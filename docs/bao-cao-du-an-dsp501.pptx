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Chào thầy/cô và các bạn. Đồ án nhận diện nhạc từ một đoạn thu ngắn, dựa theo thuật toán constellation hashing gốc của Shazam (Wang, 2003). Trọng tâm học thuật là phần xử lý tín hiệu số: nhóm tự cài STFT bằng numpy.fft thay vì gọi scipy.signal.stft có sẵn, để áp dụng đúng những gì đã học trong DSP501. Bài trình bày sẽ đi qua 5 bước xử lý tín hiệu và chỉ rõ mỗi bước ứng với chương nào trong chương trình học.</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Nêu bài toán và lý do phải dùng một biểu diễn tín hiệu khác thay vì so khớp dạng sóng thô. Giải thích 5 nguồn biến dạng: lệch thời gian, nhiễu phòng, đáp ứng thiết bị, nén mất mát, lệch pha — đây chính là động lực cho ý tưởng 'constellation map' sẽ trình bày sau. Nhấn mạnh yêu cầu học thuật: nhóm tự cài đặt STFT bằng numpy.fft, có test chặn việc quay lại dùng hàm scipy có sẵn.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Kiến trúc tách bạch rõ: mọi phép biến đổi tín hiệu chỉ nằm ở backend, ba client chỉ là lớp thu âm và hiển thị. Điều này quan trọng vì nó đảm bảo mọi tín hiệu — dù đến từ trình duyệt, tkinter hay Flutter — đều đi qua đúng MỘT đường xử lý DSP, tránh sai lệch âm thầm giữa các client. Đây là tiền đề cho quyết định thiết kế ở slide sau.</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bản đồ tổng quan: mỗi bước xử lý tín hiệu trong đồ án ứng với một hoặc nhiều chương đã học trong DSP501. Slide sau sẽ đào sâu lần lượt từng bước, có số đo thật lấy từ hệ thống đang chạy, không phải số liệu lý thuyết suông.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Liên hệ trực tiếp hai chương Thiết kế bộ lọc FIR và IIR. Bộ lọc IIR (decimate mặc định của scipy) có bậc thấp, đáp ứng biên độ suy giảm sớm và pha không tuyến tính; bộ lọc FIR (resample_poly) tuy tốn tính toán hơn nhưng đáp ứng phẳng gần sát tần số Nyquist và giữ pha tuyến tính. Đây là ví dụ thực tế từ chính lỗi đã gặp trong đồ án: kho xây bằng decimate, truy vấn qua đường resample_poly khác — hai đường xử lý khác nhau khiến vân tay lệch nhau ở đúng dải tần 4,4–5,5 kHz, hệ thống nhận diện kém đi mà không có lỗi nào hiện ra. Sau khi thống nhất dùng FIR cho cả hai chiều, vấn đề biến mất.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chương STFT và chương DFT/FFT áp dụng trực tiếp. rfft chỉ giữ nửa phổ (513/1024 bin) vì tín hiệu âm thanh là thực nên phổ đối xứng liên hợp — đúng tính chất DFT đã học, giúp giảm một nửa tính toán và bộ nhớ. Cửa sổ Hann được chọn thay vì cửa sổ chữ nhật để đổi lấy búp phụ thấp hơn nhiều, tránh năng lượng rò ra khắp phổ và chôn mất các đỉnh nhỏ ở bước sau. FFT (thuật toán radix-2 chia để trị) là lý do phép biến đổi này tính được trong vài mili-giây cho một đoạn 10 giây.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Constellation map là trái tim của thuật toán Shazam: biến một spectrogram dày đặc thành một tập điểm thưa nhưng bền với nhiễu. Về mặt lý thuyết, đây là ứng dụng của phổ năng lượng/công suất tín hiệu đã học — thay vì giữ toàn bộ phổ, ta chỉ giữ các đặc trưng cực trị cục bộ vì chúng ổn định nhất qua các phép biến dạng thực tế (đáp ứng thiết bị, nén mất mát). Chi tiết kỹ thuật epsilon là một cạm bẫy có thật đã đo được trong đồ án, đáng nêu như một bài học thực hành.</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bước biến một đặc trưng 'tuyệt đối, phụ thuộc điểm cắt đoạn thu' thành một đặc trưng 'tương đối, bất biến với thời điểm bắt đầu'. Về lý thuyết, đúng là tính chất dịch thời gian (time-shift property) của biến đổi Fourier: dịch tín hiệu theo thời gian không đổi biên độ phổ, chỉ đổi pha — ở đây ta khai thác điều tương tự bằng cách chỉ giữ khoảng cách tương đối giữa hai đỉnh, bỏ đi vị trí tuyệt đối. Đây cũng là lý do một đoạn thu 10 giây cắt ra từ bất kỳ đâu trong bài hát vẫn cho ra đúng những hash đó.</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Histogram độ lệch chính là một dạng bỏ phiếu tương quan: hash trùng ngẫu nhiên rải đều trên trục Δt, còn hash của đúng bài dồn về đúng một giá trị Δt duy nhất — chênh lệch ba bậc độ lớn giữa đỉnh histogram bài đúng và bài sai (1.729 so với cao nhất 1) là lý do ngưỡng kép hoạt động tốt mà không cần chỉnh tinh vi. Nhấn mạnh: trả về 'không tìm thấy' là một câu trả lời đúng, không phải lỗi — hệ thống cố tình từ chối đoán khi không đủ bằng chứng, tốt hơn một câu trả lời sai mà tự tin.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Tổng kết lại bản đồ giữa các chương đã học và từng bước thực tế trong đồ án. Nhấn mạnh ba hạn chế đầu là hệ quả trực tiếp của thiết kế — chính cái làm vân tay bền trước nhiễu (bám vào đúng bản ghi cụ thể) cũng là cái khiến nó không khái quát hoá được sang bản cover hay tốc độ phát khác. Gợi mở Wavelet như hướng mở rộng vì đây là chuyên đề đã học có thể giải quyết đúng đánh đổi thời gian–tần số mà STFT cửa sổ cố định còn hạn chế. Kết thúc, mời câu hỏi.</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223E"/>
        </a:solidFill>
        <a:effectLst/>
      </p:bgPr>
    </p:bg>
    <p:spTree>
      <p:nvGrpSpPr>
        <p:cNvPr id="1" name=""/>
        <p:cNvGrpSpPr/>
        <p:nvPr/>
      </p:nvGrpSpPr>
      <p:grpSpPr/>
      <p:sp>
        <p:nvSpPr>
          <p:cNvPr id="2" name="Rectangle 1"/>
          <p:cNvSpPr/>
          <p:nvPr/>
        </p:nvSpPr>
        <p:spPr>
          <a:xfrm>
            <a:off x="0" y="4160520"/>
            <a:ext cx="12191695" cy="54864"/>
          </a:xfrm>
          <a:prstGeom prst="rect">
            <a:avLst/>
          </a:prstGeom>
          <a:solidFill>
            <a:srgbClr val="2EC4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286000"/>
            <a:ext cx="10332720" cy="1554480"/>
          </a:xfrm>
          <a:prstGeom prst="rect">
            <a:avLst/>
          </a:prstGeom>
          <a:noFill/>
        </p:spPr>
        <p:txBody>
          <a:bodyPr wrap="square" anchor="t">
            <a:spAutoFit/>
          </a:bodyPr>
          <a:lstStyle/>
          <a:p>
            <a:r>
              <a:rPr sz="4000" b="1" i="0">
                <a:solidFill>
                  <a:srgbClr val="FFFFFF"/>
                </a:solidFill>
                <a:latin typeface="Calibri"/>
              </a:rPr>
              <a:t>Nhận Diện Nhạc Bằng Audio Fingerprinting</a:t>
            </a:r>
          </a:p>
        </p:txBody>
      </p:sp>
      <p:sp>
        <p:nvSpPr>
          <p:cNvPr id="4" name="TextBox 3"/>
          <p:cNvSpPr txBox="1"/>
          <p:nvPr/>
        </p:nvSpPr>
        <p:spPr>
          <a:xfrm>
            <a:off x="914400" y="3246120"/>
            <a:ext cx="10332720" cy="822960"/>
          </a:xfrm>
          <a:prstGeom prst="rect">
            <a:avLst/>
          </a:prstGeom>
          <a:noFill/>
        </p:spPr>
        <p:txBody>
          <a:bodyPr wrap="square" anchor="t">
            <a:spAutoFit/>
          </a:bodyPr>
          <a:lstStyle/>
          <a:p>
            <a:r>
              <a:rPr sz="1800" b="0" i="0">
                <a:solidFill>
                  <a:srgbClr val="2EC4B6"/>
                </a:solidFill>
                <a:latin typeface="Calibri"/>
              </a:rPr>
              <a:t>Constellation hashing (Wang, 2003) — tự cài STFT bằng numpy.fft</a:t>
            </a:r>
          </a:p>
        </p:txBody>
      </p:sp>
      <p:sp>
        <p:nvSpPr>
          <p:cNvPr id="5" name="TextBox 4"/>
          <p:cNvSpPr txBox="1"/>
          <p:nvPr/>
        </p:nvSpPr>
        <p:spPr>
          <a:xfrm>
            <a:off x="914400" y="4389120"/>
            <a:ext cx="10332720" cy="1097280"/>
          </a:xfrm>
          <a:prstGeom prst="rect">
            <a:avLst/>
          </a:prstGeom>
          <a:noFill/>
        </p:spPr>
        <p:txBody>
          <a:bodyPr wrap="square" anchor="t">
            <a:spAutoFit/>
          </a:bodyPr>
          <a:lstStyle/>
          <a:p>
            <a:r>
              <a:rPr sz="1600" b="0" i="0">
                <a:solidFill>
                  <a:srgbClr val="FFFFFF"/>
                </a:solidFill>
                <a:latin typeface="Calibri"/>
              </a:rPr>
              <a:t>Đồ án cuối kỳ — DSP501: Xử Lý Tín Hiệu Số</a:t>
            </a:r>
          </a:p>
          <a:p>
            <a:r>
              <a:rPr sz="1400" b="0" i="0">
                <a:solidFill>
                  <a:srgbClr val="C7CEDA"/>
                </a:solidFill>
                <a:latin typeface="Calibri"/>
              </a:rPr>
              <a:t>Nhóm thực hiện DSP501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2EC4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11480"/>
            <a:ext cx="10789920" cy="822960"/>
          </a:xfrm>
          <a:prstGeom prst="rect">
            <a:avLst/>
          </a:prstGeom>
          <a:noFill/>
        </p:spPr>
        <p:txBody>
          <a:bodyPr wrap="square" anchor="t">
            <a:spAutoFit/>
          </a:bodyPr>
          <a:lstStyle/>
          <a:p>
            <a:r>
              <a:rPr sz="3000" b="1" i="0">
                <a:solidFill>
                  <a:srgbClr val="14223E"/>
                </a:solidFill>
                <a:latin typeface="Calibri"/>
              </a:rPr>
              <a:t>Đặt Vấn Đề</a:t>
            </a:r>
          </a:p>
        </p:txBody>
      </p:sp>
      <p:sp>
        <p:nvSpPr>
          <p:cNvPr id="4" name="Rectangle 3"/>
          <p:cNvSpPr/>
          <p:nvPr/>
        </p:nvSpPr>
        <p:spPr>
          <a:xfrm>
            <a:off x="594360" y="1207008"/>
            <a:ext cx="2194560" cy="38100"/>
          </a:xfrm>
          <a:prstGeom prst="rect">
            <a:avLst/>
          </a:prstGeom>
          <a:solidFill>
            <a:srgbClr val="2EC4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600200"/>
            <a:ext cx="10881360" cy="4663440"/>
          </a:xfrm>
          <a:prstGeom prst="rect">
            <a:avLst/>
          </a:prstGeom>
          <a:noFill/>
        </p:spPr>
        <p:txBody>
          <a:bodyPr wrap="square" anchor="t">
            <a:spAutoFit/>
          </a:bodyPr>
          <a:lstStyle/>
          <a:p>
            <a:pPr>
              <a:spcAft>
                <a:spcPts val="1400"/>
              </a:spcAft>
            </a:pPr>
            <a:r>
              <a:rPr sz="2000" b="0" i="0">
                <a:solidFill>
                  <a:srgbClr val="2B2B2B"/>
                </a:solidFill>
                <a:latin typeface="Calibri"/>
              </a:rPr>
              <a:t>▸  Bài toán: nghe một đoạn nhạc ngắn (5–10 giây), tìm đúng tên bài trong kho hàng nghìn bài hát.</a:t>
            </a:r>
          </a:p>
          <a:p>
            <a:pPr>
              <a:spcAft>
                <a:spcPts val="1400"/>
              </a:spcAft>
            </a:pPr>
            <a:r>
              <a:rPr sz="2000" b="0" i="0">
                <a:solidFill>
                  <a:srgbClr val="2B2B2B"/>
                </a:solidFill>
                <a:latin typeface="Calibri"/>
              </a:rPr>
              <a:t>▸  Vì sao không so khớp trực tiếp dạng sóng:</a:t>
            </a:r>
          </a:p>
          <a:p>
            <a:pPr lvl="1">
              <a:spcAft>
                <a:spcPts val="600"/>
              </a:spcAft>
            </a:pPr>
            <a:r>
              <a:rPr sz="1700" b="0" i="0">
                <a:solidFill>
                  <a:srgbClr val="6B7280"/>
                </a:solidFill>
                <a:latin typeface="Calibri"/>
              </a:rPr>
              <a:t>–  Lệch thời gian bắt đầu, nhiễu phòng, méo do đáp ứng loa/micro, nén mất mát MP3, lệch pha.</a:t>
            </a:r>
          </a:p>
          <a:p>
            <a:pPr>
              <a:spcAft>
                <a:spcPts val="1400"/>
              </a:spcAft>
            </a:pPr>
            <a:r>
              <a:rPr sz="2000" b="0" i="0">
                <a:solidFill>
                  <a:srgbClr val="2B2B2B"/>
                </a:solidFill>
                <a:latin typeface="Calibri"/>
              </a:rPr>
              <a:t>▸  Ý tưởng: trích một biểu diễn thưa và bền (fingerprint), giữ lại thứ sống sót qua các biến dạng trên.</a:t>
            </a:r>
          </a:p>
          <a:p>
            <a:pPr>
              <a:spcAft>
                <a:spcPts val="1400"/>
              </a:spcAft>
            </a:pPr>
            <a:r>
              <a:rPr sz="2000" b="1" i="0">
                <a:solidFill>
                  <a:srgbClr val="2B2B2B"/>
                </a:solidFill>
                <a:latin typeface="Calibri"/>
              </a:rPr>
              <a:t>▸  Mục tiêu học thuật: tự cài STFT bằng numpy.fft — không gọi scipy.signal.stft — để áp dụng đúng lý thuyết đã học.</a:t>
            </a:r>
          </a:p>
        </p:txBody>
      </p:sp>
      <p:sp>
        <p:nvSpPr>
          <p:cNvPr id="6" name="TextBox 5"/>
          <p:cNvSpPr txBox="1"/>
          <p:nvPr/>
        </p:nvSpPr>
        <p:spPr>
          <a:xfrm>
            <a:off x="457200" y="6473952"/>
            <a:ext cx="7315200" cy="320040"/>
          </a:xfrm>
          <a:prstGeom prst="rect">
            <a:avLst/>
          </a:prstGeom>
          <a:noFill/>
        </p:spPr>
        <p:txBody>
          <a:bodyPr wrap="square" anchor="t">
            <a:spAutoFit/>
          </a:bodyPr>
          <a:lstStyle/>
          <a:p>
            <a:r>
              <a:rPr sz="1000" b="0" i="0">
                <a:solidFill>
                  <a:srgbClr val="6B7280"/>
                </a:solidFill>
                <a:latin typeface="Calibri"/>
              </a:rPr>
              <a:t>DSP501 — Nhận diện nhạc bằng Audio Fingerprinting</a:t>
            </a:r>
          </a:p>
        </p:txBody>
      </p:sp>
      <p:sp>
        <p:nvSpPr>
          <p:cNvPr id="7" name="TextBox 6"/>
          <p:cNvSpPr txBox="1"/>
          <p:nvPr/>
        </p:nvSpPr>
        <p:spPr>
          <a:xfrm>
            <a:off x="11338560" y="6473952"/>
            <a:ext cx="548640" cy="320040"/>
          </a:xfrm>
          <a:prstGeom prst="rect">
            <a:avLst/>
          </a:prstGeom>
          <a:noFill/>
        </p:spPr>
        <p:txBody>
          <a:bodyPr wrap="square" anchor="t">
            <a:spAutoFit/>
          </a:bodyPr>
          <a:lstStyle/>
          <a:p>
            <a:pPr algn="r"/>
            <a:r>
              <a:rPr sz="1000" b="0" i="0">
                <a:solidFill>
                  <a:srgbClr val="6B7280"/>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2EC4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11480"/>
            <a:ext cx="10789920" cy="822960"/>
          </a:xfrm>
          <a:prstGeom prst="rect">
            <a:avLst/>
          </a:prstGeom>
          <a:noFill/>
        </p:spPr>
        <p:txBody>
          <a:bodyPr wrap="square" anchor="t">
            <a:spAutoFit/>
          </a:bodyPr>
          <a:lstStyle/>
          <a:p>
            <a:r>
              <a:rPr sz="3000" b="1" i="0">
                <a:solidFill>
                  <a:srgbClr val="14223E"/>
                </a:solidFill>
                <a:latin typeface="Calibri"/>
              </a:rPr>
              <a:t>Kiến Trúc Hệ Thống</a:t>
            </a:r>
          </a:p>
        </p:txBody>
      </p:sp>
      <p:sp>
        <p:nvSpPr>
          <p:cNvPr id="4" name="Rectangle 3"/>
          <p:cNvSpPr/>
          <p:nvPr/>
        </p:nvSpPr>
        <p:spPr>
          <a:xfrm>
            <a:off x="594360" y="1207008"/>
            <a:ext cx="2194560" cy="38100"/>
          </a:xfrm>
          <a:prstGeom prst="rect">
            <a:avLst/>
          </a:prstGeom>
          <a:solidFill>
            <a:srgbClr val="2EC4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600200"/>
            <a:ext cx="10881360" cy="4663440"/>
          </a:xfrm>
          <a:prstGeom prst="rect">
            <a:avLst/>
          </a:prstGeom>
          <a:noFill/>
        </p:spPr>
        <p:txBody>
          <a:bodyPr wrap="square" anchor="t">
            <a:spAutoFit/>
          </a:bodyPr>
          <a:lstStyle/>
          <a:p>
            <a:pPr>
              <a:spcAft>
                <a:spcPts val="1400"/>
              </a:spcAft>
            </a:pPr>
            <a:r>
              <a:rPr sz="2000" b="0" i="0">
                <a:solidFill>
                  <a:srgbClr val="2B2B2B"/>
                </a:solidFill>
                <a:latin typeface="Calibri"/>
              </a:rPr>
              <a:t>▸  Ba client (Web, Desktop, Mobile) — chỉ ghi âm micro và hiển thị kết quả, không chứa logic DSP.</a:t>
            </a:r>
          </a:p>
          <a:p>
            <a:pPr>
              <a:spcAft>
                <a:spcPts val="1400"/>
              </a:spcAft>
            </a:pPr>
            <a:r>
              <a:rPr sz="2000" b="0" i="0">
                <a:solidFill>
                  <a:srgbClr val="2B2B2B"/>
                </a:solidFill>
                <a:latin typeface="Calibri"/>
              </a:rPr>
              <a:t>▸  Một backend (FastAPI) duy nhất — toàn bộ lõi xử lý tín hiệu + PostgreSQL.</a:t>
            </a:r>
          </a:p>
          <a:p>
            <a:pPr lvl="1">
              <a:spcAft>
                <a:spcPts val="600"/>
              </a:spcAft>
            </a:pPr>
            <a:r>
              <a:rPr sz="1700" b="0" i="0">
                <a:solidFill>
                  <a:srgbClr val="6B7280"/>
                </a:solidFill>
                <a:latin typeface="Calibri"/>
              </a:rPr>
              <a:t>–  Hai endpoint dùng chung cho mọi client: POST /api/match, POST /api/spectrogram.</a:t>
            </a:r>
          </a:p>
          <a:p>
            <a:pPr>
              <a:spcAft>
                <a:spcPts val="1400"/>
              </a:spcAft>
            </a:pPr>
            <a:r>
              <a:rPr sz="2000" b="0" i="0">
                <a:solidFill>
                  <a:srgbClr val="2B2B2B"/>
                </a:solidFill>
                <a:latin typeface="Calibri"/>
              </a:rPr>
              <a:t>▸  Kho dữ liệu: 8.003 bài hát (Free Music Archive) → 78,5 triệu vân tay đã băm.</a:t>
            </a:r>
          </a:p>
          <a:p>
            <a:pPr>
              <a:spcAft>
                <a:spcPts val="1400"/>
              </a:spcAft>
            </a:pPr>
            <a:r>
              <a:rPr sz="2000" b="0" i="0">
                <a:solidFill>
                  <a:srgbClr val="2B2B2B"/>
                </a:solidFill>
                <a:latin typeface="Calibri"/>
              </a:rPr>
              <a:t>▸  Đóng gói bằng Docker Compose: một lệnh dựng toàn bộ hệ thống (DB + API).</a:t>
            </a:r>
          </a:p>
        </p:txBody>
      </p:sp>
      <p:sp>
        <p:nvSpPr>
          <p:cNvPr id="6" name="TextBox 5"/>
          <p:cNvSpPr txBox="1"/>
          <p:nvPr/>
        </p:nvSpPr>
        <p:spPr>
          <a:xfrm>
            <a:off x="457200" y="6473952"/>
            <a:ext cx="7315200" cy="320040"/>
          </a:xfrm>
          <a:prstGeom prst="rect">
            <a:avLst/>
          </a:prstGeom>
          <a:noFill/>
        </p:spPr>
        <p:txBody>
          <a:bodyPr wrap="square" anchor="t">
            <a:spAutoFit/>
          </a:bodyPr>
          <a:lstStyle/>
          <a:p>
            <a:r>
              <a:rPr sz="1000" b="0" i="0">
                <a:solidFill>
                  <a:srgbClr val="6B7280"/>
                </a:solidFill>
                <a:latin typeface="Calibri"/>
              </a:rPr>
              <a:t>DSP501 — Nhận diện nhạc bằng Audio Fingerprinting</a:t>
            </a:r>
          </a:p>
        </p:txBody>
      </p:sp>
      <p:sp>
        <p:nvSpPr>
          <p:cNvPr id="7" name="TextBox 6"/>
          <p:cNvSpPr txBox="1"/>
          <p:nvPr/>
        </p:nvSpPr>
        <p:spPr>
          <a:xfrm>
            <a:off x="11338560" y="6473952"/>
            <a:ext cx="548640" cy="320040"/>
          </a:xfrm>
          <a:prstGeom prst="rect">
            <a:avLst/>
          </a:prstGeom>
          <a:noFill/>
        </p:spPr>
        <p:txBody>
          <a:bodyPr wrap="square" anchor="t">
            <a:spAutoFit/>
          </a:bodyPr>
          <a:lstStyle/>
          <a:p>
            <a:pPr algn="r"/>
            <a:r>
              <a:rPr sz="1000" b="0" i="0">
                <a:solidFill>
                  <a:srgbClr val="6B7280"/>
                </a:solidFill>
                <a:latin typeface="Calibri"/>
              </a:rPr>
              <a:t>3</a:t>
            </a:r>
          </a:p>
        </p:txBody>
      </p:sp>
      <p:sp>
        <p:nvSpPr>
          <p:cNvPr id="8" name="Rounded Rectangle 7"/>
          <p:cNvSpPr/>
          <p:nvPr/>
        </p:nvSpPr>
        <p:spPr>
          <a:xfrm>
            <a:off x="731520" y="4160520"/>
            <a:ext cx="1737360" cy="502920"/>
          </a:xfrm>
          <a:prstGeom prst="roundRect">
            <a:avLst/>
          </a:prstGeom>
          <a:solidFill>
            <a:srgbClr val="F7F8FA"/>
          </a:solidFill>
          <a:ln w="15875">
            <a:solidFill>
              <a:srgbClr val="2EC4B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i="0">
                <a:solidFill>
                  <a:srgbClr val="14223E"/>
                </a:solidFill>
                <a:latin typeface="Calibri"/>
              </a:rPr>
              <a:t>Web</a:t>
            </a:r>
          </a:p>
        </p:txBody>
      </p:sp>
      <p:sp>
        <p:nvSpPr>
          <p:cNvPr id="9" name="Rounded Rectangle 8"/>
          <p:cNvSpPr/>
          <p:nvPr/>
        </p:nvSpPr>
        <p:spPr>
          <a:xfrm>
            <a:off x="2788920" y="4160520"/>
            <a:ext cx="1737360" cy="502920"/>
          </a:xfrm>
          <a:prstGeom prst="roundRect">
            <a:avLst/>
          </a:prstGeom>
          <a:solidFill>
            <a:srgbClr val="F7F8FA"/>
          </a:solidFill>
          <a:ln w="15875">
            <a:solidFill>
              <a:srgbClr val="2EC4B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i="0">
                <a:solidFill>
                  <a:srgbClr val="14223E"/>
                </a:solidFill>
                <a:latin typeface="Calibri"/>
              </a:rPr>
              <a:t>Desktop</a:t>
            </a:r>
          </a:p>
        </p:txBody>
      </p:sp>
      <p:sp>
        <p:nvSpPr>
          <p:cNvPr id="10" name="Rounded Rectangle 9"/>
          <p:cNvSpPr/>
          <p:nvPr/>
        </p:nvSpPr>
        <p:spPr>
          <a:xfrm>
            <a:off x="4846320" y="4160520"/>
            <a:ext cx="1737360" cy="502920"/>
          </a:xfrm>
          <a:prstGeom prst="roundRect">
            <a:avLst/>
          </a:prstGeom>
          <a:solidFill>
            <a:srgbClr val="F7F8FA"/>
          </a:solidFill>
          <a:ln w="15875">
            <a:solidFill>
              <a:srgbClr val="2EC4B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i="0">
                <a:solidFill>
                  <a:srgbClr val="14223E"/>
                </a:solidFill>
                <a:latin typeface="Calibri"/>
              </a:rPr>
              <a:t>Mobile</a:t>
            </a:r>
          </a:p>
        </p:txBody>
      </p:sp>
      <p:cxnSp>
        <p:nvCxnSpPr>
          <p:cNvPr id="11" name="Connector 10"/>
          <p:cNvCxnSpPr/>
          <p:nvPr/>
        </p:nvCxnSpPr>
        <p:spPr>
          <a:xfrm>
            <a:off x="1280160" y="4663440"/>
            <a:ext cx="0" cy="292608"/>
          </a:xfrm>
          <a:prstGeom prst="bentConnector3">
            <a:avLst/>
          </a:prstGeom>
          <a:ln w="19050">
            <a:solidFill>
              <a:srgbClr val="6B7280"/>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731520" y="4956048"/>
            <a:ext cx="3794760" cy="502920"/>
          </a:xfrm>
          <a:prstGeom prst="roundRect">
            <a:avLst/>
          </a:prstGeom>
          <a:solidFill>
            <a:srgbClr val="1422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i="0">
                <a:solidFill>
                  <a:srgbClr val="FFFFFF"/>
                </a:solidFill>
                <a:latin typeface="Calibri"/>
              </a:rPr>
              <a:t>FastAPI — lõi DSP + PostgreSQL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2EC4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11480"/>
            <a:ext cx="10789920" cy="822960"/>
          </a:xfrm>
          <a:prstGeom prst="rect">
            <a:avLst/>
          </a:prstGeom>
          <a:noFill/>
        </p:spPr>
        <p:txBody>
          <a:bodyPr wrap="square" anchor="t">
            <a:spAutoFit/>
          </a:bodyPr>
          <a:lstStyle/>
          <a:p>
            <a:r>
              <a:rPr sz="2700" b="1" i="0">
                <a:solidFill>
                  <a:srgbClr val="14223E"/>
                </a:solidFill>
                <a:latin typeface="Calibri"/>
              </a:rPr>
              <a:t>Quy Trình DSP — 5 Bước, Đối Chiếu Chương Trình Học</a:t>
            </a:r>
          </a:p>
        </p:txBody>
      </p:sp>
      <p:sp>
        <p:nvSpPr>
          <p:cNvPr id="4" name="Rectangle 3"/>
          <p:cNvSpPr/>
          <p:nvPr/>
        </p:nvSpPr>
        <p:spPr>
          <a:xfrm>
            <a:off x="594360" y="1170432"/>
            <a:ext cx="2194560" cy="38100"/>
          </a:xfrm>
          <a:prstGeom prst="rect">
            <a:avLst/>
          </a:prstGeom>
          <a:solidFill>
            <a:srgbClr val="2EC4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1600200"/>
            <a:ext cx="502920" cy="502920"/>
          </a:xfrm>
          <a:prstGeom prst="ellipse">
            <a:avLst/>
          </a:prstGeom>
          <a:solidFill>
            <a:srgbClr val="1422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i="0">
                <a:solidFill>
                  <a:srgbClr val="FFFFFF"/>
                </a:solidFill>
                <a:latin typeface="Calibri"/>
              </a:rPr>
              <a:t>1</a:t>
            </a:r>
          </a:p>
        </p:txBody>
      </p:sp>
      <p:sp>
        <p:nvSpPr>
          <p:cNvPr id="6" name="Rounded Rectangle 5"/>
          <p:cNvSpPr/>
          <p:nvPr/>
        </p:nvSpPr>
        <p:spPr>
          <a:xfrm>
            <a:off x="1371600" y="1600200"/>
            <a:ext cx="9966960" cy="685800"/>
          </a:xfrm>
          <a:prstGeom prst="roundRect">
            <a:avLst/>
          </a:prstGeom>
          <a:solidFill>
            <a:srgbClr val="F7F8FA"/>
          </a:solidFill>
          <a:ln w="9525">
            <a:solidFill>
              <a:srgbClr val="E2E6EC"/>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r>
              <a:rPr sz="1600" b="1" i="0">
                <a:solidFill>
                  <a:srgbClr val="2B2B2B"/>
                </a:solidFill>
                <a:latin typeface="Calibri"/>
              </a:rPr>
              <a:t>Chuẩn hoá &amp; hạ tần số lấy mẫu</a:t>
            </a:r>
          </a:p>
          <a:p>
            <a:r>
              <a:rPr sz="1250" b="0" i="0">
                <a:solidFill>
                  <a:srgbClr val="1B8A80"/>
                </a:solidFill>
                <a:latin typeface="Calibri"/>
              </a:rPr>
              <a:t>Ch.2 Tín hiệu rời rạc  ·  Ch.8/9 Lọc FIR/IIR</a:t>
            </a:r>
          </a:p>
        </p:txBody>
      </p:sp>
      <p:sp>
        <p:nvSpPr>
          <p:cNvPr id="7" name="Oval 6"/>
          <p:cNvSpPr/>
          <p:nvPr/>
        </p:nvSpPr>
        <p:spPr>
          <a:xfrm>
            <a:off x="640080" y="2441448"/>
            <a:ext cx="502920" cy="502920"/>
          </a:xfrm>
          <a:prstGeom prst="ellipse">
            <a:avLst/>
          </a:prstGeom>
          <a:solidFill>
            <a:srgbClr val="1422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i="0">
                <a:solidFill>
                  <a:srgbClr val="FFFFFF"/>
                </a:solidFill>
                <a:latin typeface="Calibri"/>
              </a:rPr>
              <a:t>2</a:t>
            </a:r>
          </a:p>
        </p:txBody>
      </p:sp>
      <p:sp>
        <p:nvSpPr>
          <p:cNvPr id="8" name="Rounded Rectangle 7"/>
          <p:cNvSpPr/>
          <p:nvPr/>
        </p:nvSpPr>
        <p:spPr>
          <a:xfrm>
            <a:off x="1371600" y="2441448"/>
            <a:ext cx="9966960" cy="685800"/>
          </a:xfrm>
          <a:prstGeom prst="roundRect">
            <a:avLst/>
          </a:prstGeom>
          <a:solidFill>
            <a:srgbClr val="F7F8FA"/>
          </a:solidFill>
          <a:ln w="9525">
            <a:solidFill>
              <a:srgbClr val="E2E6EC"/>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r>
              <a:rPr sz="1600" b="1" i="0">
                <a:solidFill>
                  <a:srgbClr val="2B2B2B"/>
                </a:solidFill>
                <a:latin typeface="Calibri"/>
              </a:rPr>
              <a:t>STFT (cửa sổ hoá + FFT)</a:t>
            </a:r>
          </a:p>
          <a:p>
            <a:r>
              <a:rPr sz="1250" b="0" i="0">
                <a:solidFill>
                  <a:srgbClr val="1B8A80"/>
                </a:solidFill>
                <a:latin typeface="Calibri"/>
              </a:rPr>
              <a:t>Ch.5 Phân tích tần số  ·  Ch.6 DFT  ·  Ch.7 FFT  ·  STFT</a:t>
            </a:r>
          </a:p>
        </p:txBody>
      </p:sp>
      <p:sp>
        <p:nvSpPr>
          <p:cNvPr id="9" name="Oval 8"/>
          <p:cNvSpPr/>
          <p:nvPr/>
        </p:nvSpPr>
        <p:spPr>
          <a:xfrm>
            <a:off x="640080" y="3282696"/>
            <a:ext cx="502920" cy="502920"/>
          </a:xfrm>
          <a:prstGeom prst="ellipse">
            <a:avLst/>
          </a:prstGeom>
          <a:solidFill>
            <a:srgbClr val="1422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i="0">
                <a:solidFill>
                  <a:srgbClr val="FFFFFF"/>
                </a:solidFill>
                <a:latin typeface="Calibri"/>
              </a:rPr>
              <a:t>3</a:t>
            </a:r>
          </a:p>
        </p:txBody>
      </p:sp>
      <p:sp>
        <p:nvSpPr>
          <p:cNvPr id="10" name="Rounded Rectangle 9"/>
          <p:cNvSpPr/>
          <p:nvPr/>
        </p:nvSpPr>
        <p:spPr>
          <a:xfrm>
            <a:off x="1371600" y="3282696"/>
            <a:ext cx="9966960" cy="685800"/>
          </a:xfrm>
          <a:prstGeom prst="roundRect">
            <a:avLst/>
          </a:prstGeom>
          <a:solidFill>
            <a:srgbClr val="F7F8FA"/>
          </a:solidFill>
          <a:ln w="9525">
            <a:solidFill>
              <a:srgbClr val="E2E6EC"/>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r>
              <a:rPr sz="1600" b="1" i="0">
                <a:solidFill>
                  <a:srgbClr val="2B2B2B"/>
                </a:solidFill>
                <a:latin typeface="Calibri"/>
              </a:rPr>
              <a:t>Lọc đỉnh phổ (constellation map)</a:t>
            </a:r>
          </a:p>
          <a:p>
            <a:r>
              <a:rPr sz="1250" b="0" i="0">
                <a:solidFill>
                  <a:srgbClr val="1B8A80"/>
                </a:solidFill>
                <a:latin typeface="Calibri"/>
              </a:rPr>
              <a:t>Ch.5 Phổ năng lượng, cực trị tín hiệu</a:t>
            </a:r>
          </a:p>
        </p:txBody>
      </p:sp>
      <p:sp>
        <p:nvSpPr>
          <p:cNvPr id="11" name="Oval 10"/>
          <p:cNvSpPr/>
          <p:nvPr/>
        </p:nvSpPr>
        <p:spPr>
          <a:xfrm>
            <a:off x="640080" y="4123944"/>
            <a:ext cx="502920" cy="502920"/>
          </a:xfrm>
          <a:prstGeom prst="ellipse">
            <a:avLst/>
          </a:prstGeom>
          <a:solidFill>
            <a:srgbClr val="1422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i="0">
                <a:solidFill>
                  <a:srgbClr val="FFFFFF"/>
                </a:solidFill>
                <a:latin typeface="Calibri"/>
              </a:rPr>
              <a:t>4</a:t>
            </a:r>
          </a:p>
        </p:txBody>
      </p:sp>
      <p:sp>
        <p:nvSpPr>
          <p:cNvPr id="12" name="Rounded Rectangle 11"/>
          <p:cNvSpPr/>
          <p:nvPr/>
        </p:nvSpPr>
        <p:spPr>
          <a:xfrm>
            <a:off x="1371600" y="4123944"/>
            <a:ext cx="9966960" cy="685800"/>
          </a:xfrm>
          <a:prstGeom prst="roundRect">
            <a:avLst/>
          </a:prstGeom>
          <a:solidFill>
            <a:srgbClr val="F7F8FA"/>
          </a:solidFill>
          <a:ln w="9525">
            <a:solidFill>
              <a:srgbClr val="E2E6EC"/>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r>
              <a:rPr sz="1600" b="1" i="0">
                <a:solidFill>
                  <a:srgbClr val="2B2B2B"/>
                </a:solidFill>
                <a:latin typeface="Calibri"/>
              </a:rPr>
              <a:t>Ghép cặp đỉnh &amp; băm (hashing)</a:t>
            </a:r>
          </a:p>
          <a:p>
            <a:r>
              <a:rPr sz="1250" b="0" i="0">
                <a:solidFill>
                  <a:srgbClr val="1B8A80"/>
                </a:solidFill>
                <a:latin typeface="Calibri"/>
              </a:rPr>
              <a:t>Ch.5 Tính chất dịch thời gian của Fourier Transform</a:t>
            </a:r>
          </a:p>
        </p:txBody>
      </p:sp>
      <p:sp>
        <p:nvSpPr>
          <p:cNvPr id="13" name="Oval 12"/>
          <p:cNvSpPr/>
          <p:nvPr/>
        </p:nvSpPr>
        <p:spPr>
          <a:xfrm>
            <a:off x="640080" y="4965192"/>
            <a:ext cx="502920" cy="502920"/>
          </a:xfrm>
          <a:prstGeom prst="ellipse">
            <a:avLst/>
          </a:prstGeom>
          <a:solidFill>
            <a:srgbClr val="1422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i="0">
                <a:solidFill>
                  <a:srgbClr val="FFFFFF"/>
                </a:solidFill>
                <a:latin typeface="Calibri"/>
              </a:rPr>
              <a:t>5</a:t>
            </a:r>
          </a:p>
        </p:txBody>
      </p:sp>
      <p:sp>
        <p:nvSpPr>
          <p:cNvPr id="14" name="Rounded Rectangle 13"/>
          <p:cNvSpPr/>
          <p:nvPr/>
        </p:nvSpPr>
        <p:spPr>
          <a:xfrm>
            <a:off x="1371600" y="4965192"/>
            <a:ext cx="9966960" cy="685800"/>
          </a:xfrm>
          <a:prstGeom prst="roundRect">
            <a:avLst/>
          </a:prstGeom>
          <a:solidFill>
            <a:srgbClr val="F7F8FA"/>
          </a:solidFill>
          <a:ln w="9525">
            <a:solidFill>
              <a:srgbClr val="E2E6EC"/>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r>
              <a:rPr sz="1600" b="1" i="0">
                <a:solidFill>
                  <a:srgbClr val="2B2B2B"/>
                </a:solidFill>
                <a:latin typeface="Calibri"/>
              </a:rPr>
              <a:t>Khớp bằng histogram độ lệch</a:t>
            </a:r>
          </a:p>
          <a:p>
            <a:r>
              <a:rPr sz="1250" b="0" i="0">
                <a:solidFill>
                  <a:srgbClr val="1B8A80"/>
                </a:solidFill>
                <a:latin typeface="Calibri"/>
              </a:rPr>
              <a:t>Ch.2 Tương quan (correlation) tín hiệu rời rạc</a:t>
            </a:r>
          </a:p>
        </p:txBody>
      </p:sp>
      <p:sp>
        <p:nvSpPr>
          <p:cNvPr id="15" name="TextBox 14"/>
          <p:cNvSpPr txBox="1"/>
          <p:nvPr/>
        </p:nvSpPr>
        <p:spPr>
          <a:xfrm>
            <a:off x="457200" y="6473952"/>
            <a:ext cx="7315200" cy="320040"/>
          </a:xfrm>
          <a:prstGeom prst="rect">
            <a:avLst/>
          </a:prstGeom>
          <a:noFill/>
        </p:spPr>
        <p:txBody>
          <a:bodyPr wrap="square" anchor="t">
            <a:spAutoFit/>
          </a:bodyPr>
          <a:lstStyle/>
          <a:p>
            <a:r>
              <a:rPr sz="1000" b="0" i="0">
                <a:solidFill>
                  <a:srgbClr val="6B7280"/>
                </a:solidFill>
                <a:latin typeface="Calibri"/>
              </a:rPr>
              <a:t>DSP501 — Nhận diện nhạc bằng Audio Fingerprinting</a:t>
            </a:r>
          </a:p>
        </p:txBody>
      </p:sp>
      <p:sp>
        <p:nvSpPr>
          <p:cNvPr id="16" name="TextBox 15"/>
          <p:cNvSpPr txBox="1"/>
          <p:nvPr/>
        </p:nvSpPr>
        <p:spPr>
          <a:xfrm>
            <a:off x="11338560" y="6473952"/>
            <a:ext cx="548640" cy="320040"/>
          </a:xfrm>
          <a:prstGeom prst="rect">
            <a:avLst/>
          </a:prstGeom>
          <a:noFill/>
        </p:spPr>
        <p:txBody>
          <a:bodyPr wrap="square" anchor="t">
            <a:spAutoFit/>
          </a:bodyPr>
          <a:lstStyle/>
          <a:p>
            <a:pPr algn="r"/>
            <a:r>
              <a:rPr sz="1000" b="0" i="0">
                <a:solidFill>
                  <a:srgbClr val="6B7280"/>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2EC4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11480"/>
            <a:ext cx="10789920" cy="822960"/>
          </a:xfrm>
          <a:prstGeom prst="rect">
            <a:avLst/>
          </a:prstGeom>
          <a:noFill/>
        </p:spPr>
        <p:txBody>
          <a:bodyPr wrap="square" anchor="t">
            <a:spAutoFit/>
          </a:bodyPr>
          <a:lstStyle/>
          <a:p>
            <a:r>
              <a:rPr sz="3000" b="1" i="0">
                <a:solidFill>
                  <a:srgbClr val="14223E"/>
                </a:solidFill>
                <a:latin typeface="Calibri"/>
              </a:rPr>
              <a:t>Bước 1 — Hạ Tần Số Lấy Mẫu Đúng Cách</a:t>
            </a:r>
          </a:p>
        </p:txBody>
      </p:sp>
      <p:sp>
        <p:nvSpPr>
          <p:cNvPr id="4" name="Rectangle 3"/>
          <p:cNvSpPr/>
          <p:nvPr/>
        </p:nvSpPr>
        <p:spPr>
          <a:xfrm>
            <a:off x="594360" y="1207008"/>
            <a:ext cx="2194560" cy="38100"/>
          </a:xfrm>
          <a:prstGeom prst="rect">
            <a:avLst/>
          </a:prstGeom>
          <a:solidFill>
            <a:srgbClr val="2EC4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600200"/>
            <a:ext cx="10881360" cy="4663440"/>
          </a:xfrm>
          <a:prstGeom prst="rect">
            <a:avLst/>
          </a:prstGeom>
          <a:noFill/>
        </p:spPr>
        <p:txBody>
          <a:bodyPr wrap="square" anchor="t">
            <a:spAutoFit/>
          </a:bodyPr>
          <a:lstStyle/>
          <a:p>
            <a:pPr>
              <a:spcAft>
                <a:spcPts val="1400"/>
              </a:spcAft>
            </a:pPr>
            <a:r>
              <a:rPr sz="2000" b="0" i="0">
                <a:solidFill>
                  <a:srgbClr val="2B2B2B"/>
                </a:solidFill>
                <a:latin typeface="Calibri"/>
              </a:rPr>
              <a:t>▸  Mọi tín hiệu đưa về: mono · 11.025 Hz · biên độ đỉnh 1,0 — lối vào duy nhất cho cả kho lẫn câu truy vấn.</a:t>
            </a:r>
          </a:p>
          <a:p>
            <a:pPr>
              <a:spcAft>
                <a:spcPts val="1400"/>
              </a:spcAft>
            </a:pPr>
            <a:r>
              <a:rPr sz="2000" b="0" i="0">
                <a:solidFill>
                  <a:srgbClr val="2B2B2B"/>
                </a:solidFill>
                <a:latin typeface="Calibri"/>
              </a:rPr>
              <a:t>▸  Định lý lấy mẫu (Nyquist): hạ mẫu mà không lọc trước → tần số cao bị gập (alias) xuống thành nhiễu giả.</a:t>
            </a:r>
          </a:p>
          <a:p>
            <a:pPr>
              <a:spcAft>
                <a:spcPts val="1400"/>
              </a:spcAft>
            </a:pPr>
            <a:r>
              <a:rPr sz="2000" b="0" i="0">
                <a:solidFill>
                  <a:srgbClr val="2B2B2B"/>
                </a:solidFill>
                <a:latin typeface="Calibri"/>
              </a:rPr>
              <a:t>▸  So sánh hai bộ lọc chống chồng phổ tại 5000 Hz:</a:t>
            </a:r>
          </a:p>
          <a:p>
            <a:pPr lvl="1">
              <a:spcAft>
                <a:spcPts val="600"/>
              </a:spcAft>
            </a:pPr>
            <a:r>
              <a:rPr sz="1700" b="0" i="0">
                <a:solidFill>
                  <a:srgbClr val="6B7280"/>
                </a:solidFill>
                <a:latin typeface="Calibri"/>
              </a:rPr>
              <a:t>–  decimate (IIR Chebyshev-I bậc 8): suy hao −23,8 dB — cắt sớm hơn Nyquist lý thuyết.</a:t>
            </a:r>
          </a:p>
          <a:p>
            <a:pPr lvl="1">
              <a:spcAft>
                <a:spcPts val="600"/>
              </a:spcAft>
            </a:pPr>
            <a:r>
              <a:rPr sz="1700" b="0" i="0">
                <a:solidFill>
                  <a:srgbClr val="6B7280"/>
                </a:solidFill>
                <a:latin typeface="Calibri"/>
              </a:rPr>
              <a:t>–  resample_poly (FIR): suy hao chỉ −0,83 dB — bám sát Nyquist 5512 Hz.</a:t>
            </a:r>
          </a:p>
          <a:p>
            <a:pPr>
              <a:spcAft>
                <a:spcPts val="1400"/>
              </a:spcAft>
            </a:pPr>
            <a:r>
              <a:rPr sz="2000" b="1" i="0">
                <a:solidFill>
                  <a:srgbClr val="2B2B2B"/>
                </a:solidFill>
                <a:latin typeface="Calibri"/>
              </a:rPr>
              <a:t>▸  Bài học: chọn sai loại bộ lọc (IIR pha phi tuyến, cắt sớm) làm hệ thống vẫn "chạy được" nhưng nhận diện kém đi âm thầm.</a:t>
            </a:r>
          </a:p>
        </p:txBody>
      </p:sp>
      <p:sp>
        <p:nvSpPr>
          <p:cNvPr id="6" name="TextBox 5"/>
          <p:cNvSpPr txBox="1"/>
          <p:nvPr/>
        </p:nvSpPr>
        <p:spPr>
          <a:xfrm>
            <a:off x="457200" y="6473952"/>
            <a:ext cx="7315200" cy="320040"/>
          </a:xfrm>
          <a:prstGeom prst="rect">
            <a:avLst/>
          </a:prstGeom>
          <a:noFill/>
        </p:spPr>
        <p:txBody>
          <a:bodyPr wrap="square" anchor="t">
            <a:spAutoFit/>
          </a:bodyPr>
          <a:lstStyle/>
          <a:p>
            <a:r>
              <a:rPr sz="1000" b="0" i="0">
                <a:solidFill>
                  <a:srgbClr val="6B7280"/>
                </a:solidFill>
                <a:latin typeface="Calibri"/>
              </a:rPr>
              <a:t>DSP501 — Nhận diện nhạc bằng Audio Fingerprinting</a:t>
            </a:r>
          </a:p>
        </p:txBody>
      </p:sp>
      <p:sp>
        <p:nvSpPr>
          <p:cNvPr id="7" name="TextBox 6"/>
          <p:cNvSpPr txBox="1"/>
          <p:nvPr/>
        </p:nvSpPr>
        <p:spPr>
          <a:xfrm>
            <a:off x="11338560" y="6473952"/>
            <a:ext cx="548640" cy="320040"/>
          </a:xfrm>
          <a:prstGeom prst="rect">
            <a:avLst/>
          </a:prstGeom>
          <a:noFill/>
        </p:spPr>
        <p:txBody>
          <a:bodyPr wrap="square" anchor="t">
            <a:spAutoFit/>
          </a:bodyPr>
          <a:lstStyle/>
          <a:p>
            <a:pPr algn="r"/>
            <a:r>
              <a:rPr sz="1000" b="0" i="0">
                <a:solidFill>
                  <a:srgbClr val="6B7280"/>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2EC4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11480"/>
            <a:ext cx="10789920" cy="822960"/>
          </a:xfrm>
          <a:prstGeom prst="rect">
            <a:avLst/>
          </a:prstGeom>
          <a:noFill/>
        </p:spPr>
        <p:txBody>
          <a:bodyPr wrap="square" anchor="t">
            <a:spAutoFit/>
          </a:bodyPr>
          <a:lstStyle/>
          <a:p>
            <a:r>
              <a:rPr sz="3000" b="1" i="0">
                <a:solidFill>
                  <a:srgbClr val="14223E"/>
                </a:solidFill>
                <a:latin typeface="Calibri"/>
              </a:rPr>
              <a:t>Bước 2 — Biến Đổi Fourier Thời Gian Ngắn (STFT)</a:t>
            </a:r>
          </a:p>
        </p:txBody>
      </p:sp>
      <p:sp>
        <p:nvSpPr>
          <p:cNvPr id="4" name="Rectangle 3"/>
          <p:cNvSpPr/>
          <p:nvPr/>
        </p:nvSpPr>
        <p:spPr>
          <a:xfrm>
            <a:off x="594360" y="1207008"/>
            <a:ext cx="2194560" cy="38100"/>
          </a:xfrm>
          <a:prstGeom prst="rect">
            <a:avLst/>
          </a:prstGeom>
          <a:solidFill>
            <a:srgbClr val="2EC4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600200"/>
            <a:ext cx="10881360" cy="4663440"/>
          </a:xfrm>
          <a:prstGeom prst="rect">
            <a:avLst/>
          </a:prstGeom>
          <a:noFill/>
        </p:spPr>
        <p:txBody>
          <a:bodyPr wrap="square" anchor="t">
            <a:spAutoFit/>
          </a:bodyPr>
          <a:lstStyle/>
          <a:p>
            <a:pPr>
              <a:spcAft>
                <a:spcPts val="1400"/>
              </a:spcAft>
            </a:pPr>
            <a:r>
              <a:rPr sz="2000" b="0" i="0">
                <a:solidFill>
                  <a:srgbClr val="2B2B2B"/>
                </a:solidFill>
                <a:latin typeface="Calibri"/>
              </a:rPr>
              <a:t>▸  Âm thanh biến đổi theo thời gian → một phép Fourier Transform cho cả đoạn không định vị được "khi nào".</a:t>
            </a:r>
          </a:p>
          <a:p>
            <a:pPr>
              <a:spcAft>
                <a:spcPts val="1400"/>
              </a:spcAft>
            </a:pPr>
            <a:r>
              <a:rPr sz="2000" b="0" i="0">
                <a:solidFill>
                  <a:srgbClr val="2B2B2B"/>
                </a:solidFill>
                <a:latin typeface="Calibri"/>
              </a:rPr>
              <a:t>▸  STFT: cắt tín hiệu thành khung 1024 mẫu (92,9 ms), bước nhảy 256 mẫu (chồng lấp 75%), nhân cửa sổ Hann, rồi FFT (rfft) từng khung.</a:t>
            </a:r>
          </a:p>
          <a:p>
            <a:pPr>
              <a:spcAft>
                <a:spcPts val="1400"/>
              </a:spcAft>
            </a:pPr>
            <a:r>
              <a:rPr sz="2000" b="0" i="0">
                <a:solidFill>
                  <a:srgbClr val="2B2B2B"/>
                </a:solidFill>
                <a:latin typeface="Calibri"/>
              </a:rPr>
              <a:t>▸  Đánh đổi thời gian ↔ tần số (nguyên lý bất định Heisenberg):</a:t>
            </a:r>
          </a:p>
          <a:p>
            <a:pPr lvl="1">
              <a:spcAft>
                <a:spcPts val="600"/>
              </a:spcAft>
            </a:pPr>
            <a:r>
              <a:rPr sz="1700" b="0" i="0">
                <a:solidFill>
                  <a:srgbClr val="6B7280"/>
                </a:solidFill>
                <a:latin typeface="Calibri"/>
              </a:rPr>
              <a:t>–  cửa sổ dài → phân giải tần số mịn, nhoè thời gian; cửa sổ ngắn → ngược lại.</a:t>
            </a:r>
          </a:p>
          <a:p>
            <a:pPr>
              <a:spcAft>
                <a:spcPts val="1400"/>
              </a:spcAft>
            </a:pPr>
            <a:r>
              <a:rPr sz="2000" b="0" i="0">
                <a:solidFill>
                  <a:srgbClr val="2B2B2B"/>
                </a:solidFill>
                <a:latin typeface="Calibri"/>
              </a:rPr>
              <a:t>▸  Vì sao cửa sổ Hann: giảm rò rỉ phổ (spectral leakage) so với cửa sổ chữ nhật mặc định khi cắt khung.</a:t>
            </a:r>
          </a:p>
          <a:p>
            <a:pPr>
              <a:spcAft>
                <a:spcPts val="1400"/>
              </a:spcAft>
            </a:pPr>
            <a:r>
              <a:rPr sz="2000" b="0" i="0">
                <a:solidFill>
                  <a:srgbClr val="2B2B2B"/>
                </a:solidFill>
                <a:latin typeface="Calibri"/>
              </a:rPr>
              <a:t>▸  Kiểm chứng: sin 440 Hz cho đỉnh đúng ở bin dự đoán theo lý thuyết DFT (440 / 10,77 Hz/bin ≈ bin 41).</a:t>
            </a:r>
          </a:p>
        </p:txBody>
      </p:sp>
      <p:sp>
        <p:nvSpPr>
          <p:cNvPr id="6" name="TextBox 5"/>
          <p:cNvSpPr txBox="1"/>
          <p:nvPr/>
        </p:nvSpPr>
        <p:spPr>
          <a:xfrm>
            <a:off x="457200" y="6473952"/>
            <a:ext cx="7315200" cy="320040"/>
          </a:xfrm>
          <a:prstGeom prst="rect">
            <a:avLst/>
          </a:prstGeom>
          <a:noFill/>
        </p:spPr>
        <p:txBody>
          <a:bodyPr wrap="square" anchor="t">
            <a:spAutoFit/>
          </a:bodyPr>
          <a:lstStyle/>
          <a:p>
            <a:r>
              <a:rPr sz="1000" b="0" i="0">
                <a:solidFill>
                  <a:srgbClr val="6B7280"/>
                </a:solidFill>
                <a:latin typeface="Calibri"/>
              </a:rPr>
              <a:t>DSP501 — Nhận diện nhạc bằng Audio Fingerprinting</a:t>
            </a:r>
          </a:p>
        </p:txBody>
      </p:sp>
      <p:sp>
        <p:nvSpPr>
          <p:cNvPr id="7" name="TextBox 6"/>
          <p:cNvSpPr txBox="1"/>
          <p:nvPr/>
        </p:nvSpPr>
        <p:spPr>
          <a:xfrm>
            <a:off x="11338560" y="6473952"/>
            <a:ext cx="548640" cy="320040"/>
          </a:xfrm>
          <a:prstGeom prst="rect">
            <a:avLst/>
          </a:prstGeom>
          <a:noFill/>
        </p:spPr>
        <p:txBody>
          <a:bodyPr wrap="square" anchor="t">
            <a:spAutoFit/>
          </a:bodyPr>
          <a:lstStyle/>
          <a:p>
            <a:pPr algn="r"/>
            <a:r>
              <a:rPr sz="1000" b="0" i="0">
                <a:solidFill>
                  <a:srgbClr val="6B7280"/>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2EC4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11480"/>
            <a:ext cx="10789920" cy="822960"/>
          </a:xfrm>
          <a:prstGeom prst="rect">
            <a:avLst/>
          </a:prstGeom>
          <a:noFill/>
        </p:spPr>
        <p:txBody>
          <a:bodyPr wrap="square" anchor="t">
            <a:spAutoFit/>
          </a:bodyPr>
          <a:lstStyle/>
          <a:p>
            <a:r>
              <a:rPr sz="3000" b="1" i="0">
                <a:solidFill>
                  <a:srgbClr val="14223E"/>
                </a:solidFill>
                <a:latin typeface="Calibri"/>
              </a:rPr>
              <a:t>Bước 3 — Lọc Đỉnh Phổ (Constellation Map)</a:t>
            </a:r>
          </a:p>
        </p:txBody>
      </p:sp>
      <p:sp>
        <p:nvSpPr>
          <p:cNvPr id="4" name="Rectangle 3"/>
          <p:cNvSpPr/>
          <p:nvPr/>
        </p:nvSpPr>
        <p:spPr>
          <a:xfrm>
            <a:off x="594360" y="1207008"/>
            <a:ext cx="2194560" cy="38100"/>
          </a:xfrm>
          <a:prstGeom prst="rect">
            <a:avLst/>
          </a:prstGeom>
          <a:solidFill>
            <a:srgbClr val="2EC4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600200"/>
            <a:ext cx="10881360" cy="4663440"/>
          </a:xfrm>
          <a:prstGeom prst="rect">
            <a:avLst/>
          </a:prstGeom>
          <a:noFill/>
        </p:spPr>
        <p:txBody>
          <a:bodyPr wrap="square" anchor="t">
            <a:spAutoFit/>
          </a:bodyPr>
          <a:lstStyle/>
          <a:p>
            <a:pPr>
              <a:spcAft>
                <a:spcPts val="1400"/>
              </a:spcAft>
            </a:pPr>
            <a:r>
              <a:rPr sz="2000" b="0" i="0">
                <a:solidFill>
                  <a:srgbClr val="2B2B2B"/>
                </a:solidFill>
                <a:latin typeface="Calibri"/>
              </a:rPr>
              <a:t>▸  Từ phổ liên tục theo thời gian → chỉ giữ các cực đại cục bộ (local maxima) trong hộp 20 bin tần số × 20 khung thời gian.</a:t>
            </a:r>
          </a:p>
          <a:p>
            <a:pPr>
              <a:spcAft>
                <a:spcPts val="1400"/>
              </a:spcAft>
            </a:pPr>
            <a:r>
              <a:rPr sz="2000" b="0" i="0">
                <a:solidFill>
                  <a:srgbClr val="2B2B2B"/>
                </a:solidFill>
                <a:latin typeface="Calibri"/>
              </a:rPr>
              <a:t>▸  Vì sao giữ vị trí đỉnh, không giữ biên độ:</a:t>
            </a:r>
          </a:p>
          <a:p>
            <a:pPr lvl="1">
              <a:spcAft>
                <a:spcPts val="600"/>
              </a:spcAft>
            </a:pPr>
            <a:r>
              <a:rPr sz="1700" b="0" i="0">
                <a:solidFill>
                  <a:srgbClr val="6B7280"/>
                </a:solidFill>
                <a:latin typeface="Calibri"/>
              </a:rPr>
              <a:t>–  loa, micro, nén MP3 đều đổi độ lớn tần số, nhưng hiếm khi đổi thứ tự đỉnh nào cao hơn đỉnh nào.</a:t>
            </a:r>
          </a:p>
          <a:p>
            <a:pPr>
              <a:spcAft>
                <a:spcPts val="1400"/>
              </a:spcAft>
            </a:pPr>
            <a:r>
              <a:rPr sz="2000" b="0" i="0">
                <a:solidFill>
                  <a:srgbClr val="2B2B2B"/>
                </a:solidFill>
                <a:latin typeface="Calibri"/>
              </a:rPr>
              <a:t>▸  Epsilon trước khi lấy log biên độ là bắt buộc: log(0) = −∞ khiến khung im lặng báo toàn bộ là đỉnh giả (đo: 2.500/2.500 điểm giả khi thiếu epsilon, 0 khi có).</a:t>
            </a:r>
          </a:p>
          <a:p>
            <a:pPr>
              <a:spcAft>
                <a:spcPts val="1400"/>
              </a:spcAft>
            </a:pPr>
            <a:r>
              <a:rPr sz="2000" b="0" i="0">
                <a:solidFill>
                  <a:srgbClr val="2B2B2B"/>
                </a:solidFill>
                <a:latin typeface="Calibri"/>
              </a:rPr>
              <a:t>▸  Kết quả: biểu diễn thưa và bền — đo được 40,9 đỉnh/giây trên nhạc thật.</a:t>
            </a:r>
          </a:p>
        </p:txBody>
      </p:sp>
      <p:sp>
        <p:nvSpPr>
          <p:cNvPr id="6" name="TextBox 5"/>
          <p:cNvSpPr txBox="1"/>
          <p:nvPr/>
        </p:nvSpPr>
        <p:spPr>
          <a:xfrm>
            <a:off x="457200" y="6473952"/>
            <a:ext cx="7315200" cy="320040"/>
          </a:xfrm>
          <a:prstGeom prst="rect">
            <a:avLst/>
          </a:prstGeom>
          <a:noFill/>
        </p:spPr>
        <p:txBody>
          <a:bodyPr wrap="square" anchor="t">
            <a:spAutoFit/>
          </a:bodyPr>
          <a:lstStyle/>
          <a:p>
            <a:r>
              <a:rPr sz="1000" b="0" i="0">
                <a:solidFill>
                  <a:srgbClr val="6B7280"/>
                </a:solidFill>
                <a:latin typeface="Calibri"/>
              </a:rPr>
              <a:t>DSP501 — Nhận diện nhạc bằng Audio Fingerprinting</a:t>
            </a:r>
          </a:p>
        </p:txBody>
      </p:sp>
      <p:sp>
        <p:nvSpPr>
          <p:cNvPr id="7" name="TextBox 6"/>
          <p:cNvSpPr txBox="1"/>
          <p:nvPr/>
        </p:nvSpPr>
        <p:spPr>
          <a:xfrm>
            <a:off x="11338560" y="6473952"/>
            <a:ext cx="548640" cy="320040"/>
          </a:xfrm>
          <a:prstGeom prst="rect">
            <a:avLst/>
          </a:prstGeom>
          <a:noFill/>
        </p:spPr>
        <p:txBody>
          <a:bodyPr wrap="square" anchor="t">
            <a:spAutoFit/>
          </a:bodyPr>
          <a:lstStyle/>
          <a:p>
            <a:pPr algn="r"/>
            <a:r>
              <a:rPr sz="1000" b="0" i="0">
                <a:solidFill>
                  <a:srgbClr val="6B7280"/>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2EC4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11480"/>
            <a:ext cx="10789920" cy="822960"/>
          </a:xfrm>
          <a:prstGeom prst="rect">
            <a:avLst/>
          </a:prstGeom>
          <a:noFill/>
        </p:spPr>
        <p:txBody>
          <a:bodyPr wrap="square" anchor="t">
            <a:spAutoFit/>
          </a:bodyPr>
          <a:lstStyle/>
          <a:p>
            <a:r>
              <a:rPr sz="3000" b="1" i="0">
                <a:solidFill>
                  <a:srgbClr val="14223E"/>
                </a:solidFill>
                <a:latin typeface="Calibri"/>
              </a:rPr>
              <a:t>Bước 4 — Ghép Cặp Đỉnh Và Băm (Hashing)</a:t>
            </a:r>
          </a:p>
        </p:txBody>
      </p:sp>
      <p:sp>
        <p:nvSpPr>
          <p:cNvPr id="4" name="Rectangle 3"/>
          <p:cNvSpPr/>
          <p:nvPr/>
        </p:nvSpPr>
        <p:spPr>
          <a:xfrm>
            <a:off x="594360" y="1207008"/>
            <a:ext cx="2194560" cy="38100"/>
          </a:xfrm>
          <a:prstGeom prst="rect">
            <a:avLst/>
          </a:prstGeom>
          <a:solidFill>
            <a:srgbClr val="2EC4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600200"/>
            <a:ext cx="10881360" cy="4663440"/>
          </a:xfrm>
          <a:prstGeom prst="rect">
            <a:avLst/>
          </a:prstGeom>
          <a:noFill/>
        </p:spPr>
        <p:txBody>
          <a:bodyPr wrap="square" anchor="t">
            <a:spAutoFit/>
          </a:bodyPr>
          <a:lstStyle/>
          <a:p>
            <a:pPr>
              <a:spcAft>
                <a:spcPts val="1400"/>
              </a:spcAft>
            </a:pPr>
            <a:r>
              <a:rPr sz="2000" b="0" i="0">
                <a:solidFill>
                  <a:srgbClr val="2B2B2B"/>
                </a:solidFill>
                <a:latin typeface="Calibri"/>
              </a:rPr>
              <a:t>▸  Một đỉnh đơn lẻ chỉ mang khoảng 10 bit thông tin (vị trí bin) → không đủ phân biệt hàng nghìn bài hát.</a:t>
            </a:r>
          </a:p>
          <a:p>
            <a:pPr>
              <a:spcAft>
                <a:spcPts val="1400"/>
              </a:spcAft>
            </a:pPr>
            <a:r>
              <a:rPr sz="2000" b="0" i="0">
                <a:solidFill>
                  <a:srgbClr val="2B2B2B"/>
                </a:solidFill>
                <a:latin typeface="Calibri"/>
              </a:rPr>
              <a:t>▸  Giải pháp: ghép mỗi đỉnh "neo" với các đỉnh phía sau trong một "vùng đích", băm theo hình dạng tương đối (f1, f2, Δt).</a:t>
            </a:r>
          </a:p>
          <a:p>
            <a:pPr>
              <a:spcAft>
                <a:spcPts val="1400"/>
              </a:spcAft>
            </a:pPr>
            <a:r>
              <a:rPr sz="2000" b="0" i="0">
                <a:solidFill>
                  <a:srgbClr val="2B2B2B"/>
                </a:solidFill>
                <a:latin typeface="Calibri"/>
              </a:rPr>
              <a:t>▸  Bất biến với dịch thời gian:</a:t>
            </a:r>
          </a:p>
          <a:p>
            <a:pPr lvl="1">
              <a:spcAft>
                <a:spcPts val="600"/>
              </a:spcAft>
            </a:pPr>
            <a:r>
              <a:rPr sz="1700" b="0" i="0">
                <a:solidFill>
                  <a:srgbClr val="6B7280"/>
                </a:solidFill>
                <a:latin typeface="Calibri"/>
              </a:rPr>
              <a:t>–  dùng hiệu thời gian Δt giữa hai đỉnh — không dùng thời điểm tuyệt đối — tương ứng tính chất dịch thời gian của biến đổi Fourier đã học.</a:t>
            </a:r>
          </a:p>
          <a:p>
            <a:pPr>
              <a:spcAft>
                <a:spcPts val="1400"/>
              </a:spcAft>
            </a:pPr>
            <a:r>
              <a:rPr sz="2000" b="0" i="0">
                <a:solidFill>
                  <a:srgbClr val="2B2B2B"/>
                </a:solidFill>
                <a:latin typeface="Calibri"/>
              </a:rPr>
              <a:t>▸  32 bit mỗi hash (10+10+12 bit), fan-out 8 đỉnh/neo → đo thật 2.672 hash cho 10 giây audio.</a:t>
            </a:r>
          </a:p>
        </p:txBody>
      </p:sp>
      <p:sp>
        <p:nvSpPr>
          <p:cNvPr id="6" name="TextBox 5"/>
          <p:cNvSpPr txBox="1"/>
          <p:nvPr/>
        </p:nvSpPr>
        <p:spPr>
          <a:xfrm>
            <a:off x="457200" y="6473952"/>
            <a:ext cx="7315200" cy="320040"/>
          </a:xfrm>
          <a:prstGeom prst="rect">
            <a:avLst/>
          </a:prstGeom>
          <a:noFill/>
        </p:spPr>
        <p:txBody>
          <a:bodyPr wrap="square" anchor="t">
            <a:spAutoFit/>
          </a:bodyPr>
          <a:lstStyle/>
          <a:p>
            <a:r>
              <a:rPr sz="1000" b="0" i="0">
                <a:solidFill>
                  <a:srgbClr val="6B7280"/>
                </a:solidFill>
                <a:latin typeface="Calibri"/>
              </a:rPr>
              <a:t>DSP501 — Nhận diện nhạc bằng Audio Fingerprinting</a:t>
            </a:r>
          </a:p>
        </p:txBody>
      </p:sp>
      <p:sp>
        <p:nvSpPr>
          <p:cNvPr id="7" name="TextBox 6"/>
          <p:cNvSpPr txBox="1"/>
          <p:nvPr/>
        </p:nvSpPr>
        <p:spPr>
          <a:xfrm>
            <a:off x="11338560" y="6473952"/>
            <a:ext cx="548640" cy="320040"/>
          </a:xfrm>
          <a:prstGeom prst="rect">
            <a:avLst/>
          </a:prstGeom>
          <a:noFill/>
        </p:spPr>
        <p:txBody>
          <a:bodyPr wrap="square" anchor="t">
            <a:spAutoFit/>
          </a:bodyPr>
          <a:lstStyle/>
          <a:p>
            <a:pPr algn="r"/>
            <a:r>
              <a:rPr sz="1000" b="0" i="0">
                <a:solidFill>
                  <a:srgbClr val="6B7280"/>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2EC4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11480"/>
            <a:ext cx="10789920" cy="822960"/>
          </a:xfrm>
          <a:prstGeom prst="rect">
            <a:avLst/>
          </a:prstGeom>
          <a:noFill/>
        </p:spPr>
        <p:txBody>
          <a:bodyPr wrap="square" anchor="t">
            <a:spAutoFit/>
          </a:bodyPr>
          <a:lstStyle/>
          <a:p>
            <a:r>
              <a:rPr sz="3000" b="1" i="0">
                <a:solidFill>
                  <a:srgbClr val="14223E"/>
                </a:solidFill>
                <a:latin typeface="Calibri"/>
              </a:rPr>
              <a:t>Bước 5 — Khớp Bằng Histogram Độ Lệch &amp; Kết Quả Đo</a:t>
            </a:r>
          </a:p>
        </p:txBody>
      </p:sp>
      <p:sp>
        <p:nvSpPr>
          <p:cNvPr id="4" name="Rectangle 3"/>
          <p:cNvSpPr/>
          <p:nvPr/>
        </p:nvSpPr>
        <p:spPr>
          <a:xfrm>
            <a:off x="594360" y="1207008"/>
            <a:ext cx="2194560" cy="38100"/>
          </a:xfrm>
          <a:prstGeom prst="rect">
            <a:avLst/>
          </a:prstGeom>
          <a:solidFill>
            <a:srgbClr val="2EC4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600200"/>
            <a:ext cx="10881360" cy="4663440"/>
          </a:xfrm>
          <a:prstGeom prst="rect">
            <a:avLst/>
          </a:prstGeom>
          <a:noFill/>
        </p:spPr>
        <p:txBody>
          <a:bodyPr wrap="square" anchor="t">
            <a:spAutoFit/>
          </a:bodyPr>
          <a:lstStyle/>
          <a:p>
            <a:pPr>
              <a:spcAft>
                <a:spcPts val="1400"/>
              </a:spcAft>
            </a:pPr>
            <a:r>
              <a:rPr sz="2000" b="0" i="0">
                <a:solidFill>
                  <a:srgbClr val="2B2B2B"/>
                </a:solidFill>
                <a:latin typeface="Calibri"/>
              </a:rPr>
              <a:t>▸  Nguyên lý giống tương quan (correlation) tín hiệu rời rạc: nếu đúng bài, mọi hash trùng phải cho cùng một độ lệch t_kho − t_query.</a:t>
            </a:r>
          </a:p>
          <a:p>
            <a:pPr>
              <a:spcAft>
                <a:spcPts val="1400"/>
              </a:spcAft>
            </a:pPr>
            <a:r>
              <a:rPr sz="2000" b="0" i="0">
                <a:solidFill>
                  <a:srgbClr val="2B2B2B"/>
                </a:solidFill>
                <a:latin typeface="Calibri"/>
              </a:rPr>
              <a:t>▸  Ngưỡng kép để chấp nhận một kết quả khớp:</a:t>
            </a:r>
          </a:p>
          <a:p>
            <a:pPr lvl="1">
              <a:spcAft>
                <a:spcPts val="600"/>
              </a:spcAft>
            </a:pPr>
            <a:r>
              <a:rPr sz="1700" b="0" i="0">
                <a:solidFill>
                  <a:srgbClr val="6B7280"/>
                </a:solidFill>
                <a:latin typeface="Calibri"/>
              </a:rPr>
              <a:t>–  score ≥ 20  và  score / á_quân ≥ 2,0 — tránh nhận nhầm tiếng ồn hay nhiễu thành một bài bất kỳ.</a:t>
            </a:r>
          </a:p>
          <a:p>
            <a:pPr>
              <a:spcAft>
                <a:spcPts val="1400"/>
              </a:spcAft>
            </a:pPr>
            <a:r>
              <a:rPr sz="2000" b="0" i="0">
                <a:solidFill>
                  <a:srgbClr val="2B2B2B"/>
                </a:solidFill>
                <a:latin typeface="Calibri"/>
              </a:rPr>
              <a:t>▸  Kết quả đo trên kho đủ 8.003 bài (n=60): 60/60 nhận đúng bài trong kho, 57/60 từ chối đúng bài ngoài kho.</a:t>
            </a:r>
          </a:p>
          <a:p>
            <a:pPr>
              <a:spcAft>
                <a:spcPts val="1400"/>
              </a:spcAft>
            </a:pPr>
            <a:r>
              <a:rPr sz="2000" b="0" i="0">
                <a:solidFill>
                  <a:srgbClr val="2B2B2B"/>
                </a:solidFill>
                <a:latin typeface="Calibri"/>
              </a:rPr>
              <a:t>▸  Tốc độ: 4 bước DSP dưới 8 ms; tra cứu database chiếm 79% thời gian; tổng dưới 0,6 giây cho một truy vấn 10 giây.</a:t>
            </a:r>
          </a:p>
        </p:txBody>
      </p:sp>
      <p:sp>
        <p:nvSpPr>
          <p:cNvPr id="6" name="TextBox 5"/>
          <p:cNvSpPr txBox="1"/>
          <p:nvPr/>
        </p:nvSpPr>
        <p:spPr>
          <a:xfrm>
            <a:off x="457200" y="6473952"/>
            <a:ext cx="7315200" cy="320040"/>
          </a:xfrm>
          <a:prstGeom prst="rect">
            <a:avLst/>
          </a:prstGeom>
          <a:noFill/>
        </p:spPr>
        <p:txBody>
          <a:bodyPr wrap="square" anchor="t">
            <a:spAutoFit/>
          </a:bodyPr>
          <a:lstStyle/>
          <a:p>
            <a:r>
              <a:rPr sz="1000" b="0" i="0">
                <a:solidFill>
                  <a:srgbClr val="6B7280"/>
                </a:solidFill>
                <a:latin typeface="Calibri"/>
              </a:rPr>
              <a:t>DSP501 — Nhận diện nhạc bằng Audio Fingerprinting</a:t>
            </a:r>
          </a:p>
        </p:txBody>
      </p:sp>
      <p:sp>
        <p:nvSpPr>
          <p:cNvPr id="7" name="TextBox 6"/>
          <p:cNvSpPr txBox="1"/>
          <p:nvPr/>
        </p:nvSpPr>
        <p:spPr>
          <a:xfrm>
            <a:off x="11338560" y="6473952"/>
            <a:ext cx="548640" cy="320040"/>
          </a:xfrm>
          <a:prstGeom prst="rect">
            <a:avLst/>
          </a:prstGeom>
          <a:noFill/>
        </p:spPr>
        <p:txBody>
          <a:bodyPr wrap="square" anchor="t">
            <a:spAutoFit/>
          </a:bodyPr>
          <a:lstStyle/>
          <a:p>
            <a:pPr algn="r"/>
            <a:r>
              <a:rPr sz="1000" b="0" i="0">
                <a:solidFill>
                  <a:srgbClr val="6B7280"/>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2EC4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11480"/>
            <a:ext cx="10789920" cy="822960"/>
          </a:xfrm>
          <a:prstGeom prst="rect">
            <a:avLst/>
          </a:prstGeom>
          <a:noFill/>
        </p:spPr>
        <p:txBody>
          <a:bodyPr wrap="square" anchor="t">
            <a:spAutoFit/>
          </a:bodyPr>
          <a:lstStyle/>
          <a:p>
            <a:r>
              <a:rPr sz="3000" b="1" i="0">
                <a:solidFill>
                  <a:srgbClr val="14223E"/>
                </a:solidFill>
                <a:latin typeface="Calibri"/>
              </a:rPr>
              <a:t>Kết Luận</a:t>
            </a:r>
          </a:p>
        </p:txBody>
      </p:sp>
      <p:sp>
        <p:nvSpPr>
          <p:cNvPr id="4" name="Rectangle 3"/>
          <p:cNvSpPr/>
          <p:nvPr/>
        </p:nvSpPr>
        <p:spPr>
          <a:xfrm>
            <a:off x="594360" y="1207008"/>
            <a:ext cx="2194560" cy="38100"/>
          </a:xfrm>
          <a:prstGeom prst="rect">
            <a:avLst/>
          </a:prstGeom>
          <a:solidFill>
            <a:srgbClr val="2EC4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600200"/>
            <a:ext cx="10881360" cy="4663440"/>
          </a:xfrm>
          <a:prstGeom prst="rect">
            <a:avLst/>
          </a:prstGeom>
          <a:noFill/>
        </p:spPr>
        <p:txBody>
          <a:bodyPr wrap="square" anchor="t">
            <a:spAutoFit/>
          </a:bodyPr>
          <a:lstStyle/>
          <a:p>
            <a:pPr>
              <a:spcAft>
                <a:spcPts val="1400"/>
              </a:spcAft>
            </a:pPr>
            <a:r>
              <a:rPr sz="2000" b="0" i="0">
                <a:solidFill>
                  <a:srgbClr val="2B2B2B"/>
                </a:solidFill>
                <a:latin typeface="Calibri"/>
              </a:rPr>
              <a:t>▸  Đồ án áp dụng trực tiếp phần lớn nội dung DSP501: lấy mẫu &amp; lọc chống chồng phổ, DFT/FFT, cửa sổ hoá &amp; STFT, tính chất Fourier, tương quan tín hiệu.</a:t>
            </a:r>
          </a:p>
          <a:p>
            <a:pPr>
              <a:spcAft>
                <a:spcPts val="1400"/>
              </a:spcAft>
            </a:pPr>
            <a:r>
              <a:rPr sz="2000" b="0" i="0">
                <a:solidFill>
                  <a:srgbClr val="2B2B2B"/>
                </a:solidFill>
                <a:latin typeface="Calibri"/>
              </a:rPr>
              <a:t>▸  Hạn chế cố hữu của thuật toán (không phải lỗi cài đặt):</a:t>
            </a:r>
          </a:p>
          <a:p>
            <a:pPr lvl="1">
              <a:spcAft>
                <a:spcPts val="600"/>
              </a:spcAft>
            </a:pPr>
            <a:r>
              <a:rPr sz="1700" b="0" i="0">
                <a:solidFill>
                  <a:srgbClr val="6B7280"/>
                </a:solidFill>
                <a:latin typeface="Calibri"/>
              </a:rPr>
              <a:t>–  không nhận được bản cover/hát lại/remix — vân tay bám vào đúng bản ghi, không bám giai điệu.</a:t>
            </a:r>
          </a:p>
          <a:p>
            <a:pPr lvl="1">
              <a:spcAft>
                <a:spcPts val="600"/>
              </a:spcAft>
            </a:pPr>
            <a:r>
              <a:rPr sz="1700" b="0" i="0">
                <a:solidFill>
                  <a:srgbClr val="6B7280"/>
                </a:solidFill>
                <a:latin typeface="Calibri"/>
              </a:rPr>
              <a:t>–  nhạy với thay đổi tốc độ phát — dịch cả trục tần số lẫn trục thời gian.</a:t>
            </a:r>
          </a:p>
          <a:p>
            <a:pPr>
              <a:spcAft>
                <a:spcPts val="1400"/>
              </a:spcAft>
            </a:pPr>
            <a:r>
              <a:rPr sz="2000" b="0" i="0">
                <a:solidFill>
                  <a:srgbClr val="2B2B2B"/>
                </a:solidFill>
                <a:latin typeface="Calibri"/>
              </a:rPr>
              <a:t>▸  Hướng mở rộng: Wavelet Transform (đa phân giải) có thể cải thiện đánh đổi thời gian–tần số so với STFT cửa sổ cố định.</a:t>
            </a:r>
          </a:p>
          <a:p>
            <a:pPr>
              <a:spcAft>
                <a:spcPts val="1400"/>
              </a:spcAft>
            </a:pPr>
            <a:r>
              <a:rPr sz="2000" b="1" i="0">
                <a:solidFill>
                  <a:srgbClr val="2B2B2B"/>
                </a:solidFill>
                <a:latin typeface="Calibri"/>
              </a:rPr>
              <a:t>▸  Cảm ơn thầy/cô và các bạn đã theo dõi — mời câu hỏi.</a:t>
            </a:r>
          </a:p>
        </p:txBody>
      </p:sp>
      <p:sp>
        <p:nvSpPr>
          <p:cNvPr id="6" name="TextBox 5"/>
          <p:cNvSpPr txBox="1"/>
          <p:nvPr/>
        </p:nvSpPr>
        <p:spPr>
          <a:xfrm>
            <a:off x="457200" y="6473952"/>
            <a:ext cx="7315200" cy="320040"/>
          </a:xfrm>
          <a:prstGeom prst="rect">
            <a:avLst/>
          </a:prstGeom>
          <a:noFill/>
        </p:spPr>
        <p:txBody>
          <a:bodyPr wrap="square" anchor="t">
            <a:spAutoFit/>
          </a:bodyPr>
          <a:lstStyle/>
          <a:p>
            <a:r>
              <a:rPr sz="1000" b="0" i="0">
                <a:solidFill>
                  <a:srgbClr val="6B7280"/>
                </a:solidFill>
                <a:latin typeface="Calibri"/>
              </a:rPr>
              <a:t>DSP501 — Nhận diện nhạc bằng Audio Fingerprinting</a:t>
            </a:r>
          </a:p>
        </p:txBody>
      </p:sp>
      <p:sp>
        <p:nvSpPr>
          <p:cNvPr id="7" name="TextBox 6"/>
          <p:cNvSpPr txBox="1"/>
          <p:nvPr/>
        </p:nvSpPr>
        <p:spPr>
          <a:xfrm>
            <a:off x="11338560" y="6473952"/>
            <a:ext cx="548640" cy="320040"/>
          </a:xfrm>
          <a:prstGeom prst="rect">
            <a:avLst/>
          </a:prstGeom>
          <a:noFill/>
        </p:spPr>
        <p:txBody>
          <a:bodyPr wrap="square" anchor="t">
            <a:spAutoFit/>
          </a:bodyPr>
          <a:lstStyle/>
          <a:p>
            <a:pPr algn="r"/>
            <a:r>
              <a:rPr sz="1000" b="0" i="0">
                <a:solidFill>
                  <a:srgbClr val="6B7280"/>
                </a:solidFill>
                <a:latin typeface="Calibri"/>
              </a:rPr>
              <a:t>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